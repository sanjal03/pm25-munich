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5029200" cy="5029200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11065" y="76028"/>
            <a:ext cx="146598" cy="146598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66895" y="3037786"/>
            <a:ext cx="337057" cy="337057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84682" y="107182"/>
            <a:ext cx="129195" cy="129195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72970" y="833585"/>
            <a:ext cx="262282" cy="262282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49424" y="2640413"/>
            <a:ext cx="311520" cy="311520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45848" y="3223523"/>
            <a:ext cx="166726" cy="166726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43717" y="1565754"/>
            <a:ext cx="90344" cy="90344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10456" y="2708601"/>
            <a:ext cx="310809" cy="310809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9088" y="4507495"/>
            <a:ext cx="178541" cy="178541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99313" y="2769574"/>
            <a:ext cx="327653" cy="327653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8259" y="180935"/>
            <a:ext cx="132053" cy="132053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60075" y="1077551"/>
            <a:ext cx="92892" cy="92892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75132" y="1655405"/>
            <a:ext cx="175963" cy="175963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38586" y="4294874"/>
            <a:ext cx="261712" cy="261712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69152" y="3396170"/>
            <a:ext cx="112149" cy="112149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355560" y="2917359"/>
            <a:ext cx="233602" cy="233602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73294" y="3605916"/>
            <a:ext cx="132408" cy="132408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81289" y="1224527"/>
            <a:ext cx="126833" cy="126833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97816" y="1376120"/>
            <a:ext cx="263996" cy="263996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974883" y="2112687"/>
            <a:ext cx="143466" cy="143466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20049" y="1143427"/>
            <a:ext cx="242131" cy="242131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36608" y="876024"/>
            <a:ext cx="369572" cy="369572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21871" y="205241"/>
            <a:ext cx="95560" cy="95560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10527" y="1971640"/>
            <a:ext cx="81327" cy="81327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329124" y="2333308"/>
            <a:ext cx="361406" cy="361406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82571" y="3276765"/>
            <a:ext cx="272104" cy="272104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10515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7A1C"/>
                </a:solidFill>
                <a:latin typeface="Calibri"/>
              </a:rPr>
              <a:t>BACHELOR'S THESIS DEFENSE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508760"/>
            <a:ext cx="9875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Forecasting Hourly PM2.5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in the Munich Region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24612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D8E3F0"/>
                </a:solidFill>
                <a:latin typeface="Calibri"/>
              </a:rPr>
              <a:t>A Champion/Challenger Framework for Feature-Group Importance</a:t>
            </a:r>
          </a:p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D8E3F0"/>
                </a:solidFill>
                <a:latin typeface="Calibri"/>
              </a:rPr>
              <a:t>and a COVID-19 Counterfactual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709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07A1C"/>
                </a:solidFill>
                <a:latin typeface="Cambria"/>
              </a:rPr>
              <a:t>Sanjal More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13892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8E3F0"/>
                </a:solidFill>
                <a:latin typeface="Calibri"/>
              </a:rPr>
              <a:t>TUM School of Management  —  Bachelor's Thesis in Management &amp; Technology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50468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FB9C8"/>
                </a:solidFill>
                <a:latin typeface="Calibri"/>
              </a:rPr>
              <a:t>Supervisor: Zhenyu Wang      │      Examiner: Prof. Ziyue 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5583" y="457200"/>
            <a:ext cx="146304" cy="146304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2491" y="278892"/>
            <a:ext cx="100584" cy="10058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0115" y="763524"/>
            <a:ext cx="82296" cy="82296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37365" y="752094"/>
            <a:ext cx="68580" cy="68580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8383" y="365760"/>
            <a:ext cx="54864" cy="5486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80749" y="1008126"/>
            <a:ext cx="50292" cy="50292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99571" y="114300"/>
            <a:ext cx="64008" cy="64008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891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A1C"/>
                </a:solidFill>
                <a:latin typeface="Calibri"/>
              </a:rPr>
              <a:t>AGENDA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6223D"/>
                </a:solidFill>
                <a:latin typeface="Cambria"/>
              </a:rPr>
              <a:t>What We'll Cover Today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18488"/>
            <a:ext cx="257860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12164" y="1915668"/>
            <a:ext cx="960120" cy="960120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127248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6223D"/>
                </a:solidFill>
                <a:latin typeface="Cambria"/>
              </a:rPr>
              <a:t>Motivation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75888"/>
            <a:ext cx="212140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Why PM2.5 forecasting matters — and the gap in the literature.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55264" y="1618488"/>
            <a:ext cx="257860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64508" y="1915668"/>
            <a:ext cx="960120" cy="960120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3127248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6223D"/>
                </a:solidFill>
                <a:latin typeface="Cambria"/>
              </a:rPr>
              <a:t>Research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3675888"/>
            <a:ext cx="212140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Two research questions this thesis sets out to answer.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7608" y="1618488"/>
            <a:ext cx="257860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16852" y="1915668"/>
            <a:ext cx="960120" cy="960120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127248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6223D"/>
                </a:solidFill>
                <a:latin typeface="Cambria"/>
              </a:rPr>
              <a:t>Methodology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675888"/>
            <a:ext cx="212140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Data, features, models, and a rigorous 3-phase framework.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59952" y="1618488"/>
            <a:ext cx="257860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69196" y="1915668"/>
            <a:ext cx="960120" cy="96012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4544" y="3127248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6223D"/>
                </a:solidFill>
                <a:latin typeface="Cambria"/>
              </a:rPr>
              <a:t>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675888"/>
            <a:ext cx="212140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Champion model, RQ1/RQ2 findings, contributions — and honest limitations.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6B7A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0" y="-2560320"/>
            <a:ext cx="6400800" cy="6400800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2743200"/>
            <a:ext cx="5852160" cy="5852160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274320"/>
            <a:ext cx="4846320" cy="63093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0" b="1" i="0">
                <a:solidFill>
                  <a:srgbClr val="263863"/>
                </a:solidFill>
                <a:latin typeface="Cambria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22191"/>
            <a:ext cx="7132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D8E3F0"/>
                </a:solidFill>
                <a:latin typeface="Calibri"/>
              </a:rPr>
              <a:t>Why PM2.5 forecasting matters — and the gap in the literature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5583" y="457200"/>
            <a:ext cx="146304" cy="146304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2491" y="278892"/>
            <a:ext cx="100584" cy="10058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0115" y="763524"/>
            <a:ext cx="82296" cy="82296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37365" y="752094"/>
            <a:ext cx="68580" cy="68580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8383" y="365760"/>
            <a:ext cx="54864" cy="5486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80749" y="1008126"/>
            <a:ext cx="50292" cy="50292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99571" y="114300"/>
            <a:ext cx="64008" cy="64008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891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A1C"/>
                </a:solidFill>
                <a:latin typeface="Calibri"/>
              </a:rPr>
              <a:t>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6223D"/>
                </a:solidFill>
                <a:latin typeface="Cambria"/>
              </a:rPr>
              <a:t>Why This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72768"/>
            <a:ext cx="6400800" cy="42976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 marL="182880" indent="-182880">
              <a:lnSpc>
                <a:spcPct val="118000"/>
              </a:lnSpc>
              <a:spcAft>
                <a:spcPts val="1400"/>
              </a:spcAft>
              <a:buClr>
                <a:srgbClr val="E07A1C"/>
              </a:buClr>
              <a:buFont typeface="Arial"/>
              <a:buChar char="●"/>
            </a:pPr>
            <a:r>
              <a:rPr sz="1550">
                <a:solidFill>
                  <a:srgbClr val="16223D"/>
                </a:solidFill>
                <a:latin typeface="Calibri"/>
              </a:rPr>
              <a:t>PM2.5 is one of the leading global environmental health risks (WHO) — linked to respiratory and cardiovascular disease and premature mortality.</a:t>
            </a:r>
          </a:p>
          <a:p>
            <a:pPr algn="l" marL="182880" indent="-182880">
              <a:lnSpc>
                <a:spcPct val="118000"/>
              </a:lnSpc>
              <a:spcAft>
                <a:spcPts val="1400"/>
              </a:spcAft>
              <a:buClr>
                <a:srgbClr val="E07A1C"/>
              </a:buClr>
              <a:buFont typeface="Arial"/>
              <a:buChar char="●"/>
            </a:pPr>
            <a:r>
              <a:rPr sz="1550">
                <a:solidFill>
                  <a:srgbClr val="16223D"/>
                </a:solidFill>
                <a:latin typeface="Calibri"/>
              </a:rPr>
              <a:t>The Munich region: high population density, mixed emission sources (traffic, heating, industry), and a well-established monitoring network — a strong case study.</a:t>
            </a:r>
          </a:p>
          <a:p>
            <a:pPr algn="l" marL="182880" indent="-182880">
              <a:lnSpc>
                <a:spcPct val="118000"/>
              </a:lnSpc>
              <a:spcAft>
                <a:spcPts val="1400"/>
              </a:spcAft>
              <a:buClr>
                <a:srgbClr val="E07A1C"/>
              </a:buClr>
              <a:buFont typeface="Arial"/>
              <a:buChar char="●"/>
            </a:pPr>
            <a:r>
              <a:rPr sz="1550">
                <a:solidFill>
                  <a:srgbClr val="16223D"/>
                </a:solidFill>
                <a:latin typeface="Calibri"/>
              </a:rPr>
              <a:t>Accurate forecasting enables early warnings, policy evaluation, and targeted mitigation.</a:t>
            </a:r>
          </a:p>
          <a:p>
            <a:pPr algn="l" marL="182880" indent="-182880">
              <a:lnSpc>
                <a:spcPct val="118000"/>
              </a:lnSpc>
              <a:spcAft>
                <a:spcPts val="1400"/>
              </a:spcAft>
              <a:buClr>
                <a:srgbClr val="E07A1C"/>
              </a:buClr>
              <a:buFont typeface="Arial"/>
              <a:buChar char="●"/>
            </a:pPr>
            <a:r>
              <a:rPr sz="1550">
                <a:solidFill>
                  <a:srgbClr val="16223D"/>
                </a:solidFill>
                <a:latin typeface="Calibri"/>
              </a:rPr>
              <a:t>The literature gap: feature-group importance is rarely compared across model families under one controlled framework — and lockdown effects are rarely framed as a recursive counterfactual forecasting problem.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5472" y="1463040"/>
            <a:ext cx="4562856" cy="38770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11_covid_lockdown_pm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628564"/>
            <a:ext cx="4343400" cy="15460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69480" y="5394960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5C6B7A"/>
                </a:solidFill>
                <a:latin typeface="Calibri"/>
              </a:rPr>
              <a:t>PM2.5 dropped sharply during the 2020 lockdown — the real-world signal motivating RQ2's counterfactual design.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6B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0" y="-2560320"/>
            <a:ext cx="6400800" cy="6400800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2743200"/>
            <a:ext cx="5852160" cy="5852160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274320"/>
            <a:ext cx="4846320" cy="63093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0" b="1" i="0">
                <a:solidFill>
                  <a:srgbClr val="263863"/>
                </a:solidFill>
                <a:latin typeface="Cambria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RESEARCH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22191"/>
            <a:ext cx="7132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D8E3F0"/>
                </a:solidFill>
                <a:latin typeface="Calibri"/>
              </a:rPr>
              <a:t>Two research questions this thesis sets out to answer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5583" y="457200"/>
            <a:ext cx="146304" cy="146304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2491" y="278892"/>
            <a:ext cx="100584" cy="10058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0115" y="763524"/>
            <a:ext cx="82296" cy="82296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37365" y="752094"/>
            <a:ext cx="68580" cy="68580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8383" y="365760"/>
            <a:ext cx="54864" cy="5486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80749" y="1008126"/>
            <a:ext cx="50292" cy="50292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99571" y="114300"/>
            <a:ext cx="64008" cy="64008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891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A1C"/>
                </a:solidFill>
                <a:latin typeface="Calibri"/>
              </a:rPr>
              <a:t>RESEARCH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6223D"/>
                </a:solidFill>
                <a:latin typeface="Cambria"/>
              </a:rPr>
              <a:t>Two Research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18488"/>
            <a:ext cx="53492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1938528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mbria"/>
              </a:rPr>
              <a:t>RQ1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24328"/>
            <a:ext cx="4709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16223D"/>
                </a:solidFill>
                <a:latin typeface="Cambria"/>
              </a:rPr>
              <a:t>Which feature groups matter most for PM2.5 forecasting?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24528"/>
            <a:ext cx="4709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C6B7A"/>
                </a:solidFill>
                <a:latin typeface="Calibri"/>
              </a:rPr>
              <a:t>PM2.5 history · Co-pollutants · Meteorology · Temporal/calendar — tested via leave-one-group-out ablation (ΔMAE%) across 5 models and 7 stations.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618488"/>
            <a:ext cx="53492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1938528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FFFFFF"/>
                </a:solidFill>
                <a:latin typeface="Cambria"/>
              </a:rPr>
              <a:t>RQ2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24328"/>
            <a:ext cx="4709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16223D"/>
                </a:solidFill>
                <a:latin typeface="Cambria"/>
              </a:rPr>
              <a:t>Can a recursive counterfactual quantify the COVID-19 lockdown's effect on PM2.5?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224528"/>
            <a:ext cx="4709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C6B7A"/>
                </a:solidFill>
                <a:latin typeface="Calibri"/>
              </a:rPr>
              <a:t>Validated models are rolled forward through the lockdown window using their own predictions — a genuine counterfactual, not a simple before/after comparison.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6B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0" y="-2560320"/>
            <a:ext cx="6400800" cy="6400800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2743200"/>
            <a:ext cx="5852160" cy="5852160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274320"/>
            <a:ext cx="4846320" cy="63093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0" b="1" i="0">
                <a:solidFill>
                  <a:srgbClr val="263863"/>
                </a:solidFill>
                <a:latin typeface="Cambria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22191"/>
            <a:ext cx="7132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D8E3F0"/>
                </a:solidFill>
                <a:latin typeface="Calibri"/>
              </a:rPr>
              <a:t>Data, features, models, and a rigorous 3-phase framework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5583" y="457200"/>
            <a:ext cx="146304" cy="146304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2491" y="278892"/>
            <a:ext cx="100584" cy="10058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0115" y="763524"/>
            <a:ext cx="82296" cy="82296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37365" y="752094"/>
            <a:ext cx="68580" cy="68580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8383" y="365760"/>
            <a:ext cx="54864" cy="5486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80749" y="1008126"/>
            <a:ext cx="50292" cy="50292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99571" y="114300"/>
            <a:ext cx="64008" cy="64008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891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A1C"/>
                </a:solidFill>
                <a:latin typeface="Calibri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6223D"/>
                </a:solidFill>
                <a:latin typeface="Cambria"/>
              </a:rPr>
              <a:t>Study Area &amp;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435608"/>
            <a:ext cx="55778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13_study_area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7048"/>
            <a:ext cx="5334000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63640" y="1499616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16223D"/>
                </a:solidFill>
                <a:latin typeface="Calibri"/>
              </a:rPr>
              <a:t>Hourly UBA/DWD observations, 2019–2024 (6 years)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16223D"/>
                </a:solidFill>
                <a:latin typeface="Calibri"/>
              </a:rPr>
              <a:t>7 Munich-region stations — final scope, supervisor-confirmed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441448"/>
            <a:ext cx="5394960" cy="443484"/>
          </a:xfrm>
          <a:prstGeom prst="rect">
            <a:avLst/>
          </a:prstGeom>
          <a:solidFill>
            <a:srgbClr val="16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2441448"/>
            <a:ext cx="3291840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2441448"/>
            <a:ext cx="1874520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Distance from ref.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884932"/>
            <a:ext cx="5394960" cy="443484"/>
          </a:xfrm>
          <a:prstGeom prst="rect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884932"/>
            <a:ext cx="3291840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6223D"/>
                </a:solidFill>
                <a:latin typeface="Calibri"/>
              </a:rPr>
              <a:t>München/Landshuter Allee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884932"/>
            <a:ext cx="1874520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reference station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328416"/>
            <a:ext cx="5394960" cy="4434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328416"/>
            <a:ext cx="3291840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6223D"/>
                </a:solidFill>
                <a:latin typeface="Calibri"/>
              </a:rPr>
              <a:t>München/Stachus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3328416"/>
            <a:ext cx="1874520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2.5 km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771900"/>
            <a:ext cx="5394960" cy="443484"/>
          </a:xfrm>
          <a:prstGeom prst="rect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3771900"/>
            <a:ext cx="3291840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6223D"/>
                </a:solidFill>
                <a:latin typeface="Calibri"/>
              </a:rPr>
              <a:t>München/Lothstraße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771900"/>
            <a:ext cx="1874520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1.5 km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215384"/>
            <a:ext cx="5394960" cy="4434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215384"/>
            <a:ext cx="3291840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6223D"/>
                </a:solidFill>
                <a:latin typeface="Calibri"/>
              </a:rPr>
              <a:t>München/Johanneskirchen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4215384"/>
            <a:ext cx="1874520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8.7 km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658868"/>
            <a:ext cx="5394960" cy="443484"/>
          </a:xfrm>
          <a:prstGeom prst="rect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4658868"/>
            <a:ext cx="3291840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6223D"/>
                </a:solidFill>
                <a:latin typeface="Calibri"/>
              </a:rPr>
              <a:t>Andechs/Rothenfeld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4658868"/>
            <a:ext cx="1874520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30.2 km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5102352"/>
            <a:ext cx="5394960" cy="4434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5102352"/>
            <a:ext cx="3291840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6223D"/>
                </a:solidFill>
                <a:latin typeface="Calibri"/>
              </a:rPr>
              <a:t>Augsburg/Bourges-Platz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5102352"/>
            <a:ext cx="1874520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~51 km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5545836"/>
            <a:ext cx="5394960" cy="443484"/>
          </a:xfrm>
          <a:prstGeom prst="rect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5545836"/>
            <a:ext cx="3291840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6223D"/>
                </a:solidFill>
                <a:latin typeface="Calibri"/>
              </a:rPr>
              <a:t>Augsburg/LfU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5545836"/>
            <a:ext cx="1874520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~55 km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6B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5583" y="457200"/>
            <a:ext cx="146304" cy="146304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2491" y="278892"/>
            <a:ext cx="100584" cy="10058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0115" y="763524"/>
            <a:ext cx="82296" cy="82296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37365" y="752094"/>
            <a:ext cx="68580" cy="68580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8383" y="365760"/>
            <a:ext cx="54864" cy="5486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80749" y="1008126"/>
            <a:ext cx="50292" cy="50292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99571" y="114300"/>
            <a:ext cx="64008" cy="64008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891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A1C"/>
                </a:solidFill>
                <a:latin typeface="Calibri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6223D"/>
                </a:solidFill>
                <a:latin typeface="Cambria"/>
              </a:rPr>
              <a:t>36 Engineered Features, Five Categories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18488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1764792"/>
            <a:ext cx="548640" cy="548640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618488"/>
            <a:ext cx="2834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D"/>
                </a:solidFill>
                <a:latin typeface="Cambria"/>
              </a:rPr>
              <a:t>PM2.5 Lags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618488"/>
            <a:ext cx="6949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C6B7A"/>
                </a:solidFill>
                <a:latin typeface="Calibri"/>
              </a:rPr>
              <a:t>Recent own-pollutant history at multiple horizons — the single strongest predictor group.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59736"/>
            <a:ext cx="11183112" cy="841248"/>
          </a:xfrm>
          <a:prstGeom prst="rect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2606040"/>
            <a:ext cx="548640" cy="548640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459736"/>
            <a:ext cx="2834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D"/>
                </a:solidFill>
                <a:latin typeface="Cambria"/>
              </a:rPr>
              <a:t>Rolling Statistics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459736"/>
            <a:ext cx="6949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C6B7A"/>
                </a:solidFill>
                <a:latin typeface="Calibri"/>
              </a:rPr>
              <a:t>Smoothed trends and local variability over sliding time windows.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00984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3447288"/>
            <a:ext cx="548640" cy="548640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300984"/>
            <a:ext cx="2834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D"/>
                </a:solidFill>
                <a:latin typeface="Cambria"/>
              </a:rPr>
              <a:t>Co-pollutants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300984"/>
            <a:ext cx="6949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C6B7A"/>
                </a:solidFill>
                <a:latin typeface="Calibri"/>
              </a:rPr>
              <a:t>NO2, O3, PM10, SO2 — co-measured at the same station.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142232"/>
            <a:ext cx="11183112" cy="841248"/>
          </a:xfrm>
          <a:prstGeom prst="rect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4288536"/>
            <a:ext cx="548640" cy="548640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142232"/>
            <a:ext cx="2834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D"/>
                </a:solidFill>
                <a:latin typeface="Cambria"/>
              </a:rPr>
              <a:t>Meteorology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142232"/>
            <a:ext cx="6949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C6B7A"/>
                </a:solidFill>
                <a:latin typeface="Calibri"/>
              </a:rPr>
              <a:t>Temperature, wind, humidity, pressure — DWD station 03379.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983480"/>
            <a:ext cx="1118311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1520" y="5129784"/>
            <a:ext cx="548640" cy="548640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983480"/>
            <a:ext cx="2834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D"/>
                </a:solidFill>
                <a:latin typeface="Cambria"/>
              </a:rPr>
              <a:t>Temporal / Calendar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983480"/>
            <a:ext cx="6949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C6B7A"/>
                </a:solidFill>
                <a:latin typeface="Calibri"/>
              </a:rPr>
              <a:t>Hour-of-day, day-of-week, and seasonality encodings.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6B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5583" y="457200"/>
            <a:ext cx="146304" cy="146304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2491" y="278892"/>
            <a:ext cx="100584" cy="10058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0115" y="763524"/>
            <a:ext cx="82296" cy="82296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37365" y="752094"/>
            <a:ext cx="68580" cy="68580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8383" y="365760"/>
            <a:ext cx="54864" cy="5486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80749" y="1008126"/>
            <a:ext cx="50292" cy="50292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99571" y="114300"/>
            <a:ext cx="64008" cy="64008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891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A1C"/>
                </a:solidFill>
                <a:latin typeface="Calibri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6223D"/>
                </a:solidFill>
                <a:latin typeface="Cambria"/>
              </a:rPr>
              <a:t>Six Models, Three Architecture Families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18488"/>
            <a:ext cx="3538728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618488"/>
            <a:ext cx="3538728" cy="109728"/>
          </a:xfrm>
          <a:prstGeom prst="roundRect">
            <a:avLst>
              <a:gd name="adj" fmla="val 50000"/>
            </a:avLst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38528"/>
            <a:ext cx="29900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6223D"/>
                </a:solidFill>
                <a:latin typeface="Cambria"/>
              </a:rPr>
              <a:t>Tree-Based Ensembles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715768"/>
            <a:ext cx="2990088" cy="502920"/>
          </a:xfrm>
          <a:prstGeom prst="roundRect">
            <a:avLst>
              <a:gd name="adj" fmla="val 25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715768"/>
            <a:ext cx="27706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6223D"/>
                </a:solidFill>
                <a:latin typeface="Calibri"/>
              </a:rPr>
              <a:t>CatBoost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37560"/>
            <a:ext cx="2990088" cy="502920"/>
          </a:xfrm>
          <a:prstGeom prst="roundRect">
            <a:avLst>
              <a:gd name="adj" fmla="val 25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337560"/>
            <a:ext cx="27706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6223D"/>
                </a:solidFill>
                <a:latin typeface="Calibri"/>
              </a:rPr>
              <a:t>XGBoost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59352"/>
            <a:ext cx="2990088" cy="502920"/>
          </a:xfrm>
          <a:prstGeom prst="roundRect">
            <a:avLst>
              <a:gd name="adj" fmla="val 25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959352"/>
            <a:ext cx="27706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6223D"/>
                </a:solidFill>
                <a:latin typeface="Calibri"/>
              </a:rPr>
              <a:t>LightGBM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90288"/>
            <a:ext cx="29900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5C6B7A"/>
                </a:solidFill>
                <a:latin typeface="Calibri"/>
              </a:rPr>
              <a:t>Identical hyperparameters across all three — for a fair comparison.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0248" y="1618488"/>
            <a:ext cx="3538728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70248" y="1618488"/>
            <a:ext cx="3538728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1938528"/>
            <a:ext cx="29900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6223D"/>
                </a:solidFill>
                <a:latin typeface="Cambria"/>
              </a:rPr>
              <a:t>Sequence Models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44568" y="2715768"/>
            <a:ext cx="2990088" cy="502920"/>
          </a:xfrm>
          <a:prstGeom prst="roundRect">
            <a:avLst>
              <a:gd name="adj" fmla="val 25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4296" y="2715768"/>
            <a:ext cx="27706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6223D"/>
                </a:solidFill>
                <a:latin typeface="Calibri"/>
              </a:rPr>
              <a:t>DLinear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44568" y="3337560"/>
            <a:ext cx="2990088" cy="502920"/>
          </a:xfrm>
          <a:prstGeom prst="roundRect">
            <a:avLst>
              <a:gd name="adj" fmla="val 25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54296" y="3337560"/>
            <a:ext cx="27706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6223D"/>
                </a:solidFill>
                <a:latin typeface="Calibri"/>
              </a:rPr>
              <a:t>PatchTST (adapted)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4590288"/>
            <a:ext cx="29900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5C6B7A"/>
                </a:solidFill>
                <a:latin typeface="Calibri"/>
              </a:rPr>
              <a:t>PatchTST is modified to accept covariates via concatenation before the linear head.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37576" y="1618488"/>
            <a:ext cx="3538728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37576" y="1618488"/>
            <a:ext cx="3538728" cy="109728"/>
          </a:xfrm>
          <a:prstGeom prst="roundRect">
            <a:avLst>
              <a:gd name="adj" fmla="val 50000"/>
            </a:avLst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1896" y="1938528"/>
            <a:ext cx="29900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6223D"/>
                </a:solidFill>
                <a:latin typeface="Cambria"/>
              </a:rPr>
              <a:t>Baseline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11896" y="2715768"/>
            <a:ext cx="2990088" cy="502920"/>
          </a:xfrm>
          <a:prstGeom prst="roundRect">
            <a:avLst>
              <a:gd name="adj" fmla="val 25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21624" y="2715768"/>
            <a:ext cx="27706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6223D"/>
                </a:solidFill>
                <a:latin typeface="Calibri"/>
              </a:rPr>
              <a:t>Persistence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4590288"/>
            <a:ext cx="299008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5C6B7A"/>
                </a:solidFill>
                <a:latin typeface="Calibri"/>
              </a:rPr>
              <a:t>Naive last-value carry-forward — the floor every model must beat.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6B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5583" y="457200"/>
            <a:ext cx="146304" cy="146304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2491" y="278892"/>
            <a:ext cx="100584" cy="10058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0115" y="763524"/>
            <a:ext cx="82296" cy="82296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37365" y="752094"/>
            <a:ext cx="68580" cy="68580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8383" y="365760"/>
            <a:ext cx="54864" cy="5486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80749" y="1008126"/>
            <a:ext cx="50292" cy="50292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99571" y="114300"/>
            <a:ext cx="64008" cy="64008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891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A1C"/>
                </a:solidFill>
                <a:latin typeface="Calibri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6223D"/>
                </a:solidFill>
                <a:latin typeface="Cambria"/>
              </a:rPr>
              <a:t>A Three-Phase Experimental Framework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1572768"/>
            <a:ext cx="585216" cy="585216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1572768"/>
            <a:ext cx="5577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D"/>
                </a:solidFill>
                <a:latin typeface="Cambria"/>
              </a:rPr>
              <a:t>Champion/Challenger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1993392"/>
            <a:ext cx="5577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All 6 models compared under identical conditions, gated by the Validity Gate (R²≥0.80, |Bias|&lt;1.5).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2990088"/>
            <a:ext cx="585216" cy="585216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RQ1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2990088"/>
            <a:ext cx="5577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D"/>
                </a:solidFill>
                <a:latin typeface="Cambria"/>
              </a:rPr>
              <a:t>Feature-Group Ablation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10712"/>
            <a:ext cx="5577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Leave-one-group-out ablation quantifies each feature group's contribution (ΔMAE%).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4407408"/>
            <a:ext cx="585216" cy="585216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RQ2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407408"/>
            <a:ext cx="5577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D"/>
                </a:solidFill>
                <a:latin typeface="Cambria"/>
              </a:rPr>
              <a:t>Recursive Counterfactual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4828032"/>
            <a:ext cx="5577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Validated models roll forward through the lockdown window on their own predictions.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733288"/>
            <a:ext cx="6309360" cy="658368"/>
          </a:xfrm>
          <a:prstGeom prst="roundRect">
            <a:avLst>
              <a:gd name="adj" fmla="val 8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33288"/>
            <a:ext cx="5852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16223D"/>
                </a:solidFill>
                <a:latin typeface="Calibri"/>
              </a:rPr>
              <a:t>Rigor: strict chronological train/test split (no shuffling). Models must pass the Validity Gate before being trusted for counterfactual extrapolation.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1435608"/>
            <a:ext cx="4480560" cy="4892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ig_M4_pipelin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560" y="1481328"/>
            <a:ext cx="2966400" cy="47091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6B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5583" y="457200"/>
            <a:ext cx="146304" cy="146304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2491" y="278892"/>
            <a:ext cx="100584" cy="10058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0115" y="763524"/>
            <a:ext cx="82296" cy="82296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37365" y="752094"/>
            <a:ext cx="68580" cy="68580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8383" y="365760"/>
            <a:ext cx="54864" cy="5486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80749" y="1008126"/>
            <a:ext cx="50292" cy="50292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99571" y="114300"/>
            <a:ext cx="64008" cy="64008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891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A1C"/>
                </a:solidFill>
                <a:latin typeface="Calibri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6223D"/>
                </a:solidFill>
                <a:latin typeface="Cambria"/>
              </a:rPr>
              <a:t>Chronological Split &amp; the Validity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435608"/>
            <a:ext cx="11365992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_M1_temporal_wind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438" y="1527048"/>
            <a:ext cx="9744075" cy="28346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4681728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81728"/>
            <a:ext cx="2560320" cy="651967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E07A1C"/>
                </a:solidFill>
                <a:latin typeface="Cambria"/>
              </a:rPr>
              <a:t>43,824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333695"/>
            <a:ext cx="2432304" cy="3785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C6B7A"/>
                </a:solidFill>
                <a:latin typeface="Calibri"/>
              </a:rPr>
              <a:t>Training window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4681728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4681728"/>
            <a:ext cx="2560320" cy="651967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E07A1C"/>
                </a:solidFill>
                <a:latin typeface="Cambria"/>
              </a:rPr>
              <a:t>8,784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5333695"/>
            <a:ext cx="2432304" cy="3785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C6B7A"/>
                </a:solidFill>
                <a:latin typeface="Calibri"/>
              </a:rPr>
              <a:t>Test window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681728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681728"/>
            <a:ext cx="2560320" cy="651967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E07A1C"/>
                </a:solidFill>
                <a:latin typeface="Cambria"/>
              </a:rPr>
              <a:t>R² ≥ 0.80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5333695"/>
            <a:ext cx="2432304" cy="3785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C6B7A"/>
                </a:solidFill>
                <a:latin typeface="Calibri"/>
              </a:rPr>
              <a:t>Validity Gate threshold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4681728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4681728"/>
            <a:ext cx="2560320" cy="651967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E07A1C"/>
                </a:solidFill>
                <a:latin typeface="Cambria"/>
              </a:rPr>
              <a:t>|Bias| &lt; 1.5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5333695"/>
            <a:ext cx="2432304" cy="3785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C6B7A"/>
                </a:solidFill>
                <a:latin typeface="Calibri"/>
              </a:rPr>
              <a:t>µg/m³ threshold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6B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5583" y="457200"/>
            <a:ext cx="146304" cy="146304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2491" y="278892"/>
            <a:ext cx="100584" cy="10058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0115" y="763524"/>
            <a:ext cx="82296" cy="82296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37365" y="752094"/>
            <a:ext cx="68580" cy="68580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8383" y="365760"/>
            <a:ext cx="54864" cy="5486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80749" y="1008126"/>
            <a:ext cx="50292" cy="50292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99571" y="114300"/>
            <a:ext cx="64008" cy="64008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891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A1C"/>
                </a:solidFill>
                <a:latin typeface="Calibri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6223D"/>
                </a:solidFill>
                <a:latin typeface="Cambria"/>
              </a:rPr>
              <a:t>RQ2 Method: Recursive Counterfactual 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18488"/>
            <a:ext cx="4114800" cy="44805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 marL="182880" indent="-182880">
              <a:lnSpc>
                <a:spcPct val="120000"/>
              </a:lnSpc>
              <a:spcAft>
                <a:spcPts val="1600"/>
              </a:spcAft>
              <a:buClr>
                <a:srgbClr val="E07A1C"/>
              </a:buClr>
              <a:buFont typeface="Arial"/>
              <a:buChar char="●"/>
            </a:pPr>
            <a:r>
              <a:rPr sz="1450">
                <a:solidFill>
                  <a:srgbClr val="16223D"/>
                </a:solidFill>
                <a:latin typeface="Calibri"/>
              </a:rPr>
              <a:t>Roll the validated model forward through the lockdown window using its own predictions, not real lockdown observations.</a:t>
            </a:r>
          </a:p>
          <a:p>
            <a:pPr algn="l" marL="182880" indent="-182880">
              <a:lnSpc>
                <a:spcPct val="120000"/>
              </a:lnSpc>
              <a:spcAft>
                <a:spcPts val="1600"/>
              </a:spcAft>
              <a:buClr>
                <a:srgbClr val="E07A1C"/>
              </a:buClr>
              <a:buFont typeface="Arial"/>
              <a:buChar char="●"/>
            </a:pPr>
            <a:r>
              <a:rPr sz="1450">
                <a:solidFill>
                  <a:srgbClr val="16223D"/>
                </a:solidFill>
                <a:latin typeface="Calibri"/>
              </a:rPr>
              <a:t>Avoids mechanically shrinking the estimated effect toward zero.</a:t>
            </a:r>
          </a:p>
          <a:p>
            <a:pPr algn="l" marL="182880" indent="-182880">
              <a:lnSpc>
                <a:spcPct val="120000"/>
              </a:lnSpc>
              <a:spcAft>
                <a:spcPts val="1600"/>
              </a:spcAft>
              <a:buClr>
                <a:srgbClr val="E07A1C"/>
              </a:buClr>
              <a:buFont typeface="Arial"/>
              <a:buChar char="●"/>
            </a:pPr>
            <a:r>
              <a:rPr sz="1450">
                <a:solidFill>
                  <a:srgbClr val="16223D"/>
                </a:solidFill>
                <a:latin typeface="Calibri"/>
              </a:rPr>
              <a:t>Gated by Phase 1's Validity Gate — only trustworthy models are extrapolated.</a:t>
            </a:r>
          </a:p>
          <a:p>
            <a:pPr algn="l" marL="182880" indent="-182880">
              <a:lnSpc>
                <a:spcPct val="120000"/>
              </a:lnSpc>
              <a:spcAft>
                <a:spcPts val="1600"/>
              </a:spcAft>
              <a:buClr>
                <a:srgbClr val="E07A1C"/>
              </a:buClr>
              <a:buFont typeface="Arial"/>
              <a:buChar char="●"/>
            </a:pPr>
            <a:r>
              <a:rPr sz="1450">
                <a:solidFill>
                  <a:srgbClr val="16223D"/>
                </a:solidFill>
                <a:latin typeface="Calibri"/>
              </a:rPr>
              <a:t>Gap = counterfactual (no-lockdown) prediction minus observed lockdown-period PM2.5.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167128"/>
            <a:ext cx="6812280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_M2_recursive_roll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60646"/>
            <a:ext cx="6629400" cy="301336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6B7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0" y="-2560320"/>
            <a:ext cx="6400800" cy="6400800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2743200"/>
            <a:ext cx="5852160" cy="5852160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274320"/>
            <a:ext cx="4846320" cy="63093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0" b="1" i="0">
                <a:solidFill>
                  <a:srgbClr val="263863"/>
                </a:solidFill>
                <a:latin typeface="Cambria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SECTION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22191"/>
            <a:ext cx="7132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D8E3F0"/>
                </a:solidFill>
                <a:latin typeface="Calibri"/>
              </a:rPr>
              <a:t>Findings, contributions, and honest limitations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5583" y="457200"/>
            <a:ext cx="146304" cy="146304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2491" y="278892"/>
            <a:ext cx="100584" cy="10058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0115" y="763524"/>
            <a:ext cx="82296" cy="82296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37365" y="752094"/>
            <a:ext cx="68580" cy="68580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8383" y="365760"/>
            <a:ext cx="54864" cy="5486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80749" y="1008126"/>
            <a:ext cx="50292" cy="50292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99571" y="114300"/>
            <a:ext cx="64008" cy="64008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891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A1C"/>
                </a:solidFill>
                <a:latin typeface="Calibri"/>
              </a:rPr>
              <a:t>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6223D"/>
                </a:solidFill>
                <a:latin typeface="Cambria"/>
              </a:rPr>
              <a:t>Champion Model: CatBoost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572768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16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37360"/>
            <a:ext cx="3566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07A1C"/>
                </a:solidFill>
                <a:latin typeface="Cambria"/>
              </a:rPr>
              <a:t>R² = 0.9537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6888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Champion — CatBoost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72968"/>
            <a:ext cx="4114800" cy="402336"/>
          </a:xfrm>
          <a:prstGeom prst="rect">
            <a:avLst/>
          </a:prstGeom>
          <a:solidFill>
            <a:srgbClr val="FC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72968"/>
            <a:ext cx="2377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23D"/>
                </a:solidFill>
                <a:latin typeface="Calibri"/>
              </a:rPr>
              <a:t>CatBoost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172968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86012"/>
                </a:solidFill>
                <a:latin typeface="Calibri"/>
              </a:rPr>
              <a:t>0.9537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75304"/>
            <a:ext cx="4114800" cy="402336"/>
          </a:xfrm>
          <a:prstGeom prst="rect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75304"/>
            <a:ext cx="2377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6223D"/>
                </a:solidFill>
                <a:latin typeface="Calibri"/>
              </a:rPr>
              <a:t>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575304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0.9532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77640"/>
            <a:ext cx="41148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77640"/>
            <a:ext cx="2377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6223D"/>
                </a:solidFill>
                <a:latin typeface="Calibri"/>
              </a:rPr>
              <a:t>LightGBM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977640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0.9531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79976"/>
            <a:ext cx="4114800" cy="402336"/>
          </a:xfrm>
          <a:prstGeom prst="rect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379976"/>
            <a:ext cx="2377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6223D"/>
                </a:solidFill>
                <a:latin typeface="Calibri"/>
              </a:rPr>
              <a:t>DLinear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4379976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0.9448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782312"/>
            <a:ext cx="41148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782312"/>
            <a:ext cx="2377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6223D"/>
                </a:solidFill>
                <a:latin typeface="Calibri"/>
              </a:rPr>
              <a:t>PatchTST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4782312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0.9436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184648"/>
            <a:ext cx="4114800" cy="402336"/>
          </a:xfrm>
          <a:prstGeom prst="rect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184648"/>
            <a:ext cx="2377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6223D"/>
                </a:solidFill>
                <a:latin typeface="Calibri"/>
              </a:rPr>
              <a:t>Persistence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5184648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5C6B7A"/>
                </a:solidFill>
                <a:latin typeface="Calibri"/>
              </a:rPr>
              <a:t>0.9180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1938528"/>
            <a:ext cx="672084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ig_R1_model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225548"/>
            <a:ext cx="6537960" cy="3632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02920" y="5724144"/>
            <a:ext cx="4114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5C6B7A"/>
                </a:solidFill>
                <a:latin typeface="Calibri"/>
              </a:rPr>
              <a:t>Architecture class — not tuning — drives the hierarchy: trees &gt; sequence models &gt; persistence.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6B7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5583" y="457200"/>
            <a:ext cx="146304" cy="146304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2491" y="278892"/>
            <a:ext cx="100584" cy="10058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0115" y="763524"/>
            <a:ext cx="82296" cy="82296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37365" y="752094"/>
            <a:ext cx="68580" cy="68580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8383" y="365760"/>
            <a:ext cx="54864" cy="5486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80749" y="1008126"/>
            <a:ext cx="50292" cy="50292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99571" y="114300"/>
            <a:ext cx="64008" cy="64008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891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A1C"/>
                </a:solidFill>
                <a:latin typeface="Calibri"/>
              </a:rPr>
              <a:t>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6223D"/>
                </a:solidFill>
                <a:latin typeface="Cambria"/>
              </a:rPr>
              <a:t>RQ1: PM2.5 History Dominates — Asymmetrically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481328"/>
            <a:ext cx="70408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14_rq1_ablation_groupe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5381"/>
            <a:ext cx="6858000" cy="4052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35240" y="1618488"/>
            <a:ext cx="4023360" cy="44805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 marL="182880" indent="-182880">
              <a:lnSpc>
                <a:spcPct val="122000"/>
              </a:lnSpc>
              <a:spcAft>
                <a:spcPts val="1400"/>
              </a:spcAft>
              <a:buClr>
                <a:srgbClr val="E07A1C"/>
              </a:buClr>
              <a:buFont typeface="Arial"/>
              <a:buChar char="●"/>
            </a:pPr>
            <a:r>
              <a:rPr sz="1350">
                <a:solidFill>
                  <a:srgbClr val="16223D"/>
                </a:solidFill>
                <a:latin typeface="Calibri"/>
              </a:rPr>
              <a:t>PM2.5 history dominates everywhere — but far more for sequence models (~67–75%) than tree models (~44%).</a:t>
            </a:r>
          </a:p>
          <a:p>
            <a:pPr algn="l" marL="182880" indent="-182880">
              <a:lnSpc>
                <a:spcPct val="122000"/>
              </a:lnSpc>
              <a:spcAft>
                <a:spcPts val="1400"/>
              </a:spcAft>
              <a:buClr>
                <a:srgbClr val="E07A1C"/>
              </a:buClr>
              <a:buFont typeface="Arial"/>
              <a:buChar char="●"/>
            </a:pPr>
            <a:r>
              <a:rPr sz="1350">
                <a:solidFill>
                  <a:srgbClr val="16223D"/>
                </a:solidFill>
                <a:latin typeface="Calibri"/>
              </a:rPr>
              <a:t>A genuine architectural asymmetry: trees exploit auxiliary features via explicit splitting; sequence models can't reconstruct dynamics from environment alone.</a:t>
            </a:r>
          </a:p>
          <a:p>
            <a:pPr algn="l" marL="182880" indent="-182880">
              <a:lnSpc>
                <a:spcPct val="122000"/>
              </a:lnSpc>
              <a:spcAft>
                <a:spcPts val="1400"/>
              </a:spcAft>
              <a:buClr>
                <a:srgbClr val="E07A1C"/>
              </a:buClr>
              <a:buFont typeface="Arial"/>
              <a:buChar char="●"/>
            </a:pPr>
            <a:r>
              <a:rPr sz="1350">
                <a:solidFill>
                  <a:srgbClr val="16223D"/>
                </a:solidFill>
                <a:latin typeface="Calibri"/>
              </a:rPr>
              <a:t>Co-pollutants and meteorology contribute a modest, secondary signal.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6B7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5583" y="457200"/>
            <a:ext cx="146304" cy="146304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2491" y="278892"/>
            <a:ext cx="100584" cy="10058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0115" y="763524"/>
            <a:ext cx="82296" cy="82296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37365" y="752094"/>
            <a:ext cx="68580" cy="68580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8383" y="365760"/>
            <a:ext cx="54864" cy="5486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80749" y="1008126"/>
            <a:ext cx="50292" cy="50292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99571" y="114300"/>
            <a:ext cx="64008" cy="64008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891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A1C"/>
                </a:solidFill>
                <a:latin typeface="Calibri"/>
              </a:rPr>
              <a:t>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6223D"/>
                </a:solidFill>
                <a:latin typeface="Cambria"/>
              </a:rPr>
              <a:t>RQ2: A Real but Spatially Uneven Lockdown Effect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435608"/>
            <a:ext cx="11365992" cy="3429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16_rq2_gap_by_station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356" y="1527048"/>
            <a:ext cx="6492240" cy="32461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5047488"/>
            <a:ext cx="3611880" cy="1051560"/>
          </a:xfrm>
          <a:prstGeom prst="roundRect">
            <a:avLst>
              <a:gd name="adj" fmla="val 10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047488"/>
            <a:ext cx="3520440" cy="651967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E7D5B"/>
                </a:solidFill>
                <a:latin typeface="Cambria"/>
              </a:rPr>
              <a:t>74%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699455"/>
            <a:ext cx="3392424" cy="3785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C6B7A"/>
                </a:solidFill>
                <a:latin typeface="Calibri"/>
              </a:rPr>
              <a:t>of 35 runs (7 stations × 5 models) show a positive lockdown effect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8536" y="5047488"/>
            <a:ext cx="3611880" cy="1051560"/>
          </a:xfrm>
          <a:prstGeom prst="roundRect">
            <a:avLst>
              <a:gd name="adj" fmla="val 10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4256" y="5047488"/>
            <a:ext cx="3520440" cy="651967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E7D5B"/>
                </a:solidFill>
                <a:latin typeface="Cambria"/>
              </a:rPr>
              <a:t>+14.8%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5699455"/>
            <a:ext cx="3392424" cy="3785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C6B7A"/>
                </a:solidFill>
                <a:latin typeface="Calibri"/>
              </a:rPr>
              <a:t>strongest — Augsburg/LfU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4152" y="5047488"/>
            <a:ext cx="3611880" cy="1051560"/>
          </a:xfrm>
          <a:prstGeom prst="roundRect">
            <a:avLst>
              <a:gd name="adj" fmla="val 10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5047488"/>
            <a:ext cx="3520440" cy="651967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B03A2E"/>
                </a:solidFill>
                <a:latin typeface="Cambria"/>
              </a:rPr>
              <a:t>−0.4%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5699455"/>
            <a:ext cx="3392424" cy="3785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C6B7A"/>
                </a:solidFill>
                <a:latin typeface="Calibri"/>
              </a:rPr>
              <a:t>weakest — Johanneskirchen (only 1 of 5 models agree)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6B7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5583" y="457200"/>
            <a:ext cx="146304" cy="146304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2491" y="278892"/>
            <a:ext cx="100584" cy="10058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0115" y="763524"/>
            <a:ext cx="82296" cy="82296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37365" y="752094"/>
            <a:ext cx="68580" cy="68580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8383" y="365760"/>
            <a:ext cx="54864" cy="5486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80749" y="1008126"/>
            <a:ext cx="50292" cy="50292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99571" y="114300"/>
            <a:ext cx="64008" cy="64008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891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A1C"/>
                </a:solidFill>
                <a:latin typeface="Calibri"/>
              </a:rPr>
              <a:t>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6223D"/>
                </a:solidFill>
                <a:latin typeface="Cambria"/>
              </a:rPr>
              <a:t>Illustrative Examples (CatBoost)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527048"/>
            <a:ext cx="5577840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19_rq2_timeseries_augsburg_lf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17426"/>
            <a:ext cx="5394960" cy="228248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4773168"/>
            <a:ext cx="5394960" cy="502920"/>
          </a:xfrm>
          <a:prstGeom prst="roundRect">
            <a:avLst>
              <a:gd name="adj" fmla="val 30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773168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E7D5B"/>
                </a:solidFill>
                <a:latin typeface="Calibri"/>
              </a:rPr>
              <a:t>Augsburg/LfU: +1.20 µg/m³ (+11.5%)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527048"/>
            <a:ext cx="5577840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ig20_rq2_timeseries_johanneskirch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17426"/>
            <a:ext cx="5394960" cy="2282483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17920" y="4773168"/>
            <a:ext cx="5394960" cy="502920"/>
          </a:xfrm>
          <a:prstGeom prst="roundRect">
            <a:avLst>
              <a:gd name="adj" fmla="val 30000"/>
            </a:avLst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773168"/>
            <a:ext cx="5029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B03A2E"/>
                </a:solidFill>
                <a:latin typeface="Calibri"/>
              </a:rPr>
              <a:t>Johanneskirchen: −0.06 µg/m³ (−0.5%)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0468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C6B7A"/>
                </a:solidFill>
                <a:latin typeface="Calibri"/>
              </a:rPr>
              <a:t>The counterfactual gap tracks local traffic exposure vs. background-transport dominance.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6B7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5583" y="457200"/>
            <a:ext cx="146304" cy="146304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2491" y="278892"/>
            <a:ext cx="100584" cy="10058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0115" y="763524"/>
            <a:ext cx="82296" cy="82296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37365" y="752094"/>
            <a:ext cx="68580" cy="68580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8383" y="365760"/>
            <a:ext cx="54864" cy="5486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80749" y="1008126"/>
            <a:ext cx="50292" cy="50292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99571" y="114300"/>
            <a:ext cx="64008" cy="64008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891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A1C"/>
                </a:solidFill>
                <a:latin typeface="Calibri"/>
              </a:rPr>
              <a:t>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6223D"/>
                </a:solidFill>
                <a:latin typeface="Cambria"/>
              </a:rPr>
              <a:t>Beyond the Headline Numbers</a:t>
            </a:r>
          </a:p>
        </p:txBody>
      </p:sp>
      <p:sp>
        <p:nvSpPr>
          <p:cNvPr id="12" name="Oval 11"/>
          <p:cNvSpPr/>
          <p:nvPr/>
        </p:nvSpPr>
        <p:spPr>
          <a:xfrm>
            <a:off x="521208" y="1572768"/>
            <a:ext cx="548640" cy="548640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1572768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6223D"/>
                </a:solidFill>
                <a:latin typeface="Cambria"/>
              </a:rPr>
              <a:t>A real negative finding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1956816"/>
            <a:ext cx="6309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C6B7A"/>
                </a:solidFill>
                <a:latin typeface="Calibri"/>
              </a:rPr>
              <a:t>PatchTST's weaker performance isn't undertraining — 100 epochs was worse than 30 (R² 0.944→0.941). Rules out a common reviewer critique.</a:t>
            </a:r>
          </a:p>
        </p:txBody>
      </p:sp>
      <p:sp>
        <p:nvSpPr>
          <p:cNvPr id="15" name="Oval 14"/>
          <p:cNvSpPr/>
          <p:nvPr/>
        </p:nvSpPr>
        <p:spPr>
          <a:xfrm>
            <a:off x="521208" y="3054096"/>
            <a:ext cx="548640" cy="548640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054096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6223D"/>
                </a:solidFill>
                <a:latin typeface="Cambria"/>
              </a:rPr>
              <a:t>A methodological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38144"/>
            <a:ext cx="6309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C6B7A"/>
                </a:solidFill>
                <a:latin typeface="Calibri"/>
              </a:rPr>
              <a:t>Correlation with distance is non-monotonic — rural Andechs correlates more weakly than distant Augsburg. A defensible, evidence-backed argument for station-selection criteria beyond raw proximity.</a:t>
            </a:r>
          </a:p>
        </p:txBody>
      </p:sp>
      <p:sp>
        <p:nvSpPr>
          <p:cNvPr id="18" name="Oval 17"/>
          <p:cNvSpPr/>
          <p:nvPr/>
        </p:nvSpPr>
        <p:spPr>
          <a:xfrm>
            <a:off x="521208" y="4535424"/>
            <a:ext cx="548640" cy="548640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535424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6223D"/>
                </a:solidFill>
                <a:latin typeface="Cambria"/>
              </a:rPr>
              <a:t>Honesty as rigor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4919472"/>
            <a:ext cx="6309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C6B7A"/>
                </a:solidFill>
                <a:latin typeface="Calibri"/>
              </a:rPr>
              <a:t>Preprocessing leakage measured at ≤2.4% (negligible) and disclosed, not hidden. PM2.5&gt;PM10 inconsistencies characterized, not silently filtered. Recursive-rollout error accumulation named explicitly as a property of the method.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1709928"/>
            <a:ext cx="3931919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ig_D_correlation_vs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2674861"/>
            <a:ext cx="3749039" cy="236781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18120" y="6053328"/>
            <a:ext cx="3931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C6B7A"/>
                </a:solidFill>
                <a:latin typeface="Calibri"/>
              </a:rPr>
              <a:t>Correlation vs. distance: station environment type matters more than raw proximity.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6B7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5583" y="457200"/>
            <a:ext cx="146304" cy="146304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2491" y="278892"/>
            <a:ext cx="100584" cy="10058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0115" y="763524"/>
            <a:ext cx="82296" cy="82296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37365" y="752094"/>
            <a:ext cx="68580" cy="68580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8383" y="365760"/>
            <a:ext cx="54864" cy="5486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80749" y="1008126"/>
            <a:ext cx="50292" cy="50292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99571" y="114300"/>
            <a:ext cx="64008" cy="64008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891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A1C"/>
                </a:solidFill>
                <a:latin typeface="Calibri"/>
              </a:rPr>
              <a:t>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6223D"/>
                </a:solidFill>
                <a:latin typeface="Cambria"/>
              </a:rPr>
              <a:t>Limitations — Named, Not Hidden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18488"/>
            <a:ext cx="534924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92808"/>
            <a:ext cx="4709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D"/>
                </a:solidFill>
                <a:latin typeface="Cambria"/>
              </a:rP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87168"/>
            <a:ext cx="4709160" cy="33832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 marL="182880" indent="-182880">
              <a:lnSpc>
                <a:spcPct val="125000"/>
              </a:lnSpc>
              <a:spcAft>
                <a:spcPts val="1600"/>
              </a:spcAft>
              <a:buClr>
                <a:srgbClr val="B03A2E"/>
              </a:buClr>
              <a:buFont typeface="Arial"/>
              <a:buChar char="●"/>
            </a:pPr>
            <a:r>
              <a:rPr sz="1350">
                <a:solidFill>
                  <a:srgbClr val="16223D"/>
                </a:solidFill>
                <a:latin typeface="Calibri"/>
              </a:rPr>
              <a:t>7-station scope — a deliberate, defensible trade-off under time constraints, supervisor-confirmed.</a:t>
            </a:r>
          </a:p>
          <a:p>
            <a:pPr algn="l" marL="182880" indent="-182880">
              <a:lnSpc>
                <a:spcPct val="125000"/>
              </a:lnSpc>
              <a:spcAft>
                <a:spcPts val="1600"/>
              </a:spcAft>
              <a:buClr>
                <a:srgbClr val="B03A2E"/>
              </a:buClr>
              <a:buFont typeface="Arial"/>
              <a:buChar char="●"/>
            </a:pPr>
            <a:r>
              <a:rPr sz="1350">
                <a:solidFill>
                  <a:srgbClr val="16223D"/>
                </a:solidFill>
                <a:latin typeface="Calibri"/>
              </a:rPr>
              <a:t>No formal significance testing on RQ2 gaps — a single lockdown event, point estimates only.</a:t>
            </a:r>
          </a:p>
          <a:p>
            <a:pPr algn="l" marL="182880" indent="-182880">
              <a:lnSpc>
                <a:spcPct val="125000"/>
              </a:lnSpc>
              <a:spcAft>
                <a:spcPts val="1600"/>
              </a:spcAft>
              <a:buClr>
                <a:srgbClr val="B03A2E"/>
              </a:buClr>
              <a:buFont typeface="Arial"/>
              <a:buChar char="●"/>
            </a:pPr>
            <a:r>
              <a:rPr sz="1350">
                <a:solidFill>
                  <a:srgbClr val="16223D"/>
                </a:solidFill>
                <a:latin typeface="Calibri"/>
              </a:rPr>
              <a:t>Recursive-rollout error compounding — disclosed, not hidden, and examined against the RQ2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618488"/>
            <a:ext cx="5349240" cy="4480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92808"/>
            <a:ext cx="4709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D"/>
                </a:solidFill>
                <a:latin typeface="Cambria"/>
              </a:rPr>
              <a:t>Future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87168"/>
            <a:ext cx="4709160" cy="33832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 marL="182880" indent="-182880">
              <a:lnSpc>
                <a:spcPct val="125000"/>
              </a:lnSpc>
              <a:spcAft>
                <a:spcPts val="1600"/>
              </a:spcAft>
              <a:buClr>
                <a:srgbClr val="2E7D5B"/>
              </a:buClr>
              <a:buFont typeface="Arial"/>
              <a:buChar char="●"/>
            </a:pPr>
            <a:r>
              <a:rPr sz="1350">
                <a:solidFill>
                  <a:srgbClr val="16223D"/>
                </a:solidFill>
                <a:latin typeface="Calibri"/>
              </a:rPr>
              <a:t>Statistical significance testing for the RQ2 lockdown gap.</a:t>
            </a:r>
          </a:p>
          <a:p>
            <a:pPr algn="l" marL="182880" indent="-182880">
              <a:lnSpc>
                <a:spcPct val="125000"/>
              </a:lnSpc>
              <a:spcAft>
                <a:spcPts val="1600"/>
              </a:spcAft>
              <a:buClr>
                <a:srgbClr val="2E7D5B"/>
              </a:buClr>
              <a:buFont typeface="Arial"/>
              <a:buChar char="●"/>
            </a:pPr>
            <a:r>
              <a:rPr sz="1350">
                <a:solidFill>
                  <a:srgbClr val="16223D"/>
                </a:solidFill>
                <a:latin typeface="Calibri"/>
              </a:rPr>
              <a:t>Extending the station network beyond the current 7 stations.</a:t>
            </a:r>
          </a:p>
          <a:p>
            <a:pPr algn="l" marL="182880" indent="-182880">
              <a:lnSpc>
                <a:spcPct val="125000"/>
              </a:lnSpc>
              <a:spcAft>
                <a:spcPts val="1600"/>
              </a:spcAft>
              <a:buClr>
                <a:srgbClr val="2E7D5B"/>
              </a:buClr>
              <a:buFont typeface="Arial"/>
              <a:buChar char="●"/>
            </a:pPr>
            <a:r>
              <a:rPr sz="1350">
                <a:solidFill>
                  <a:srgbClr val="16223D"/>
                </a:solidFill>
                <a:latin typeface="Calibri"/>
              </a:rPr>
              <a:t>Testing the framework on other policy-relevant events.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6B7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95583" y="457200"/>
            <a:ext cx="146304" cy="146304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2491" y="278892"/>
            <a:ext cx="100584" cy="10058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80115" y="763524"/>
            <a:ext cx="82296" cy="82296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37365" y="752094"/>
            <a:ext cx="68580" cy="68580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38383" y="365760"/>
            <a:ext cx="54864" cy="54864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80749" y="1008126"/>
            <a:ext cx="50292" cy="50292"/>
          </a:xfrm>
          <a:prstGeom prst="ellipse">
            <a:avLst/>
          </a:prstGeom>
          <a:solidFill>
            <a:srgbClr val="F0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99571" y="114300"/>
            <a:ext cx="64008" cy="64008"/>
          </a:xfrm>
          <a:prstGeom prst="ellipse">
            <a:avLst/>
          </a:prstGeom>
          <a:solidFill>
            <a:srgbClr val="D8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8912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A1C"/>
                </a:solidFill>
                <a:latin typeface="Calibri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6223D"/>
                </a:solidFill>
                <a:latin typeface="Cambria"/>
              </a:rPr>
              <a:t>Both Research Questions Answered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18488"/>
            <a:ext cx="534924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1892808"/>
            <a:ext cx="822960" cy="822960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RQ1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002536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E7D5B"/>
                </a:solidFill>
                <a:latin typeface="Cambria"/>
              </a:rPr>
              <a:t>Answered: Yes.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72968"/>
            <a:ext cx="4617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C6B7A"/>
                </a:solidFill>
                <a:latin typeface="Calibri"/>
              </a:rPr>
              <a:t>Feature-group importance differs substantially — and systematically — by model architecture (trees vs. sequence models).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618488"/>
            <a:ext cx="534924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1892808"/>
            <a:ext cx="822960" cy="822960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RQ2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002536"/>
            <a:ext cx="3794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E7D5B"/>
                </a:solidFill>
                <a:latin typeface="Cambria"/>
              </a:rPr>
              <a:t>Answered: Yes.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72968"/>
            <a:ext cx="4617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C6B7A"/>
                </a:solidFill>
                <a:latin typeface="Calibri"/>
              </a:rPr>
              <a:t>A recursive counterfactual detects a real lockdown effect, but it is not uniform across space — local traffic exposure is the driving factor.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6B7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029200" cy="5029200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50515" y="-898800"/>
            <a:ext cx="173746" cy="173746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0758" y="2611432"/>
            <a:ext cx="399475" cy="399475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97024" y="-861876"/>
            <a:ext cx="153121" cy="153121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7217" y="-953"/>
            <a:ext cx="310853" cy="310853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33014" y="2140473"/>
            <a:ext cx="369209" cy="369209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58405" y="2831565"/>
            <a:ext cx="197602" cy="197602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22547" y="866802"/>
            <a:ext cx="107074" cy="107074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53496" y="2221287"/>
            <a:ext cx="368367" cy="368367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37060" y="4353309"/>
            <a:ext cx="211604" cy="211604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21772" y="2293552"/>
            <a:ext cx="388329" cy="388329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97559" y="-774466"/>
            <a:ext cx="156508" cy="156508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16008" y="288191"/>
            <a:ext cx="110094" cy="110094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07928" y="973054"/>
            <a:ext cx="208549" cy="208549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75725" y="4101315"/>
            <a:ext cx="310177" cy="310177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19358" y="3036183"/>
            <a:ext cx="132918" cy="132918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55102" y="2468705"/>
            <a:ext cx="276861" cy="276861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27971" y="3284771"/>
            <a:ext cx="156928" cy="156928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81890" y="462384"/>
            <a:ext cx="150321" cy="150321"/>
          </a:xfrm>
          <a:prstGeom prst="ellipse">
            <a:avLst/>
          </a:prstGeom>
          <a:solidFill>
            <a:srgbClr val="E0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75554" y="642051"/>
            <a:ext cx="312885" cy="312885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03929" y="1515018"/>
            <a:ext cx="170034" cy="170034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8569" y="366265"/>
            <a:ext cx="286970" cy="286970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03011" y="49345"/>
            <a:ext cx="438011" cy="438011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289247" y="-745658"/>
            <a:ext cx="113257" cy="113257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16544" y="1347852"/>
            <a:ext cx="96387" cy="96387"/>
          </a:xfrm>
          <a:prstGeom prst="ellipse">
            <a:avLst/>
          </a:prstGeom>
          <a:solidFill>
            <a:srgbClr val="1E2C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23770" y="1776496"/>
            <a:ext cx="428333" cy="428333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650077" y="2894667"/>
            <a:ext cx="322494" cy="322494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06324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977639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1">
                <a:solidFill>
                  <a:srgbClr val="D8E3F0"/>
                </a:solidFill>
                <a:latin typeface="Calibri"/>
              </a:rPr>
              <a:t>Questions?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920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AFB9C8"/>
                </a:solidFill>
                <a:latin typeface="Calibri"/>
              </a:rPr>
              <a:t>Sanjal More  —  TUM School of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